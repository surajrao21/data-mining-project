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Kanit Light" panose="020B0604020202020204" charset="-34"/>
      <p:regular r:id="rId18"/>
    </p:embeddedFont>
    <p:embeddedFont>
      <p:font typeface="Martel San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86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B_hNu4lWZnjWAgSdBPgi0RmGnQraBE_t/view?usp=drive_link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769" y="2291834"/>
            <a:ext cx="12610862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Loan Approval Prediction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4812863" y="4049673"/>
            <a:ext cx="500455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Mining Project Pitch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9568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Suraj Ravindra Rao | Team: Predictive Minds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5748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CSE 572: Data Mining (2025 Fall C) | September 08,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2974"/>
            <a:ext cx="7606070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Background &amp; Problem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1979176"/>
            <a:ext cx="6419374" cy="1518047"/>
          </a:xfrm>
          <a:prstGeom prst="roundRect">
            <a:avLst>
              <a:gd name="adj" fmla="val 564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483" y="219086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Background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483" y="2632115"/>
            <a:ext cx="5995987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Financial institutions need automated loan decision systems to handle thousands of daily applications efficiently.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17237" y="1979176"/>
            <a:ext cx="6419374" cy="1518047"/>
          </a:xfrm>
          <a:prstGeom prst="roundRect">
            <a:avLst>
              <a:gd name="adj" fmla="val 564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8930" y="219086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8930" y="2632115"/>
            <a:ext cx="5995987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Predict loan approval/rejection based on applicant data using machine learning.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3790" y="3803333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3790" y="4492228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Kaggle Loan Approval Dataset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- 4,269 applications, 13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3790" y="525256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Demographics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3790" y="5775484"/>
            <a:ext cx="397049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Education level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790" y="6173629"/>
            <a:ext cx="397049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Number of dependents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790" y="6571774"/>
            <a:ext cx="397049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Employment status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69825" y="525256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Financial Data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69825" y="5775484"/>
            <a:ext cx="397049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Income levels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69825" y="6173629"/>
            <a:ext cx="397049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Asset values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69825" y="6571774"/>
            <a:ext cx="397049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CIBIL credit score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45861" y="525256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Loan Details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745861" y="5775484"/>
            <a:ext cx="4105870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Loan amount requested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45861" y="6173629"/>
            <a:ext cx="4105870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Loan term duration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45861" y="6571774"/>
            <a:ext cx="4105870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Target: loan_status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(Approved/Rejected)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1990"/>
            <a:ext cx="713112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Importance &amp; Business Impact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86295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Understanding why automated loan approval systems are critical for modern financial institutions: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73511"/>
            <a:ext cx="646390" cy="646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9499" y="255531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Risk Reduction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09499" y="3021092"/>
            <a:ext cx="3252311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Minimize loan defaults and protect against billions in annual losses through data-driven risk assessment and predictive analytics.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130" y="2373511"/>
            <a:ext cx="646390" cy="6463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46840" y="255531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Operational Efficiency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146840" y="3021092"/>
            <a:ext cx="3252311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 manual processes from days to minutes, enabling rapid decision-making and improved resource allocation.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470" y="2373511"/>
            <a:ext cx="646390" cy="6463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84180" y="255531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Scalability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0584180" y="3021092"/>
            <a:ext cx="325243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Handle high application volumes consistently without compromising decision quality or increasing operational costs.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76004"/>
            <a:ext cx="646390" cy="6463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09499" y="535781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Fair Lending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709499" y="5823585"/>
            <a:ext cx="3252311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Reduce human bias through objective, data-driven decisions that ensure equitable treatment across all applicant demographics.</a:t>
            </a:r>
            <a:endParaRPr lang="en-US" sz="16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1130" y="5176004"/>
            <a:ext cx="646390" cy="64639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46840" y="535781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Experience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6146840" y="5823585"/>
            <a:ext cx="3252311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 instant decision feedback, improving customer satisfaction and competitive advantage in the lending market.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9991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Main Challenges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2118955"/>
            <a:ext cx="6258520" cy="4056102"/>
          </a:xfrm>
          <a:prstGeom prst="roundRect">
            <a:avLst>
              <a:gd name="adj" fmla="val 2231"/>
            </a:avLst>
          </a:prstGeom>
          <a:solidFill>
            <a:srgbClr val="FCF2B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74" y="2417802"/>
            <a:ext cx="403979" cy="323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28537" y="2388156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Challenges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628537" y="3007519"/>
            <a:ext cx="520838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Scale Variations:</a:t>
            </a:r>
            <a:r>
              <a:rPr lang="en-US" sz="16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Income ranges from ₹4M-96M, CIBIL scores 417-778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28537" y="3772495"/>
            <a:ext cx="520838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Missing Values:</a:t>
            </a:r>
            <a:r>
              <a:rPr lang="en-US" sz="16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Incomplete applicant information across multiple fields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28537" y="4537472"/>
            <a:ext cx="520838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Outliers:</a:t>
            </a:r>
            <a:r>
              <a:rPr lang="en-US" sz="16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Extreme values in financial variables affecting model performance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28537" y="5302448"/>
            <a:ext cx="520838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Mixed Data Types:</a:t>
            </a:r>
            <a:r>
              <a:rPr lang="en-US" sz="16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Numerical and categorical features requiring unified handling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585710" y="2118955"/>
            <a:ext cx="6258520" cy="4056102"/>
          </a:xfrm>
          <a:prstGeom prst="roundRect">
            <a:avLst>
              <a:gd name="adj" fmla="val 2231"/>
            </a:avLst>
          </a:prstGeom>
          <a:solidFill>
            <a:srgbClr val="FFB3B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094" y="2417802"/>
            <a:ext cx="403979" cy="3231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20457" y="2388156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Modeling Challenges</a:t>
            </a:r>
            <a:endParaRPr lang="en-US" sz="2500" dirty="0"/>
          </a:p>
        </p:txBody>
      </p:sp>
      <p:sp>
        <p:nvSpPr>
          <p:cNvPr id="13" name="Text 9"/>
          <p:cNvSpPr/>
          <p:nvPr/>
        </p:nvSpPr>
        <p:spPr>
          <a:xfrm>
            <a:off x="8420457" y="3007519"/>
            <a:ext cx="520838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Interpretability:</a:t>
            </a:r>
            <a:r>
              <a:rPr lang="en-US" sz="16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Regulatory compliance requires explainable decisions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8420457" y="3772495"/>
            <a:ext cx="520838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Selection:</a:t>
            </a:r>
            <a:r>
              <a:rPr lang="en-US" sz="16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Identifying most predictive variables from 12 candidates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8420457" y="4537472"/>
            <a:ext cx="520838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Fairness vs. Accuracy:</a:t>
            </a:r>
            <a:r>
              <a:rPr lang="en-US" sz="16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Balancing model performance with ethical considerations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8420457" y="5302448"/>
            <a:ext cx="520838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Overfitting Risk:</a:t>
            </a:r>
            <a:r>
              <a:rPr lang="en-US" sz="16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Limited dataset size requires careful validation strategies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793790" y="6659880"/>
            <a:ext cx="130428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These challenges require sophisticated preprocessing techniques and careful model selection to ensure both accuracy and regulatory compliance.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600908"/>
            <a:ext cx="5463183" cy="682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Formulation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4858" y="1720810"/>
            <a:ext cx="4221242" cy="59080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338" y="1751290"/>
            <a:ext cx="4160282" cy="655558"/>
          </a:xfrm>
          <a:prstGeom prst="roundRect">
            <a:avLst>
              <a:gd name="adj" fmla="val 8421"/>
            </a:avLst>
          </a:prstGeom>
          <a:solidFill>
            <a:srgbClr val="DFECE9"/>
          </a:solidFill>
          <a:ln/>
        </p:spPr>
      </p:sp>
      <p:sp>
        <p:nvSpPr>
          <p:cNvPr id="5" name="Text 3"/>
          <p:cNvSpPr/>
          <p:nvPr/>
        </p:nvSpPr>
        <p:spPr>
          <a:xfrm>
            <a:off x="2711529" y="1870353"/>
            <a:ext cx="327779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13817" y="2625328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Task Classification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013817" y="3097768"/>
            <a:ext cx="372332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Binary Classification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13817" y="3578423"/>
            <a:ext cx="372332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 variable: </a:t>
            </a:r>
            <a:r>
              <a:rPr lang="en-US" sz="170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loan_status</a:t>
            </a: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(0=Rejected, 1=Approved)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13817" y="4353997"/>
            <a:ext cx="372332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space: 12 predictive variables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13817" y="5129570"/>
            <a:ext cx="372332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Supervised learning approach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204579" y="1720810"/>
            <a:ext cx="4221242" cy="59080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5059" y="1751290"/>
            <a:ext cx="4160282" cy="655558"/>
          </a:xfrm>
          <a:prstGeom prst="roundRect">
            <a:avLst>
              <a:gd name="adj" fmla="val 8421"/>
            </a:avLst>
          </a:prstGeom>
          <a:solidFill>
            <a:srgbClr val="DFECE9"/>
          </a:solidFill>
          <a:ln/>
        </p:spPr>
      </p:sp>
      <p:sp>
        <p:nvSpPr>
          <p:cNvPr id="13" name="Text 11"/>
          <p:cNvSpPr/>
          <p:nvPr/>
        </p:nvSpPr>
        <p:spPr>
          <a:xfrm>
            <a:off x="7151251" y="1870353"/>
            <a:ext cx="327779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453539" y="2625328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Essential Tasks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5453539" y="3097768"/>
            <a:ext cx="372332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preprocessing &amp; feature engineering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53539" y="3873341"/>
            <a:ext cx="372332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Multiple algorithm comparison and selection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53539" y="4648914"/>
            <a:ext cx="372332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Hyperparameter optimization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53539" y="5074920"/>
            <a:ext cx="372332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Performance evaluation &amp; model interpretation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644301" y="1720810"/>
            <a:ext cx="4221242" cy="59080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74781" y="1751290"/>
            <a:ext cx="4160282" cy="655558"/>
          </a:xfrm>
          <a:prstGeom prst="roundRect">
            <a:avLst>
              <a:gd name="adj" fmla="val 8421"/>
            </a:avLst>
          </a:prstGeom>
          <a:solidFill>
            <a:srgbClr val="DFECE9"/>
          </a:solidFill>
          <a:ln/>
        </p:spPr>
      </p:sp>
      <p:sp>
        <p:nvSpPr>
          <p:cNvPr id="21" name="Text 19"/>
          <p:cNvSpPr/>
          <p:nvPr/>
        </p:nvSpPr>
        <p:spPr>
          <a:xfrm>
            <a:off x="11590973" y="1870353"/>
            <a:ext cx="327779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893260" y="2625328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Success Metrics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9893260" y="3097768"/>
            <a:ext cx="372332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Comprehensive Evaluation Framework: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893260" y="3927991"/>
            <a:ext cx="372332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Accuracy - Overall correctness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893260" y="4353997"/>
            <a:ext cx="372332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Precision - Approved loan reliability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893260" y="5129570"/>
            <a:ext cx="372332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Recall - Capturing all viable approvals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93260" y="5905143"/>
            <a:ext cx="372332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F1-Score - Balanced performance measure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893260" y="6680716"/>
            <a:ext cx="372332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AUC-ROC - Classification threshold analysis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593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Mining Pipeline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303770" y="1730573"/>
            <a:ext cx="22860" cy="5756315"/>
          </a:xfrm>
          <a:prstGeom prst="roundRect">
            <a:avLst>
              <a:gd name="adj" fmla="val 354232"/>
            </a:avLst>
          </a:prstGeom>
          <a:solidFill>
            <a:srgbClr val="C5D2CF"/>
          </a:solidFill>
          <a:ln/>
        </p:spPr>
      </p:sp>
      <p:sp>
        <p:nvSpPr>
          <p:cNvPr id="4" name="Shape 2"/>
          <p:cNvSpPr/>
          <p:nvPr/>
        </p:nvSpPr>
        <p:spPr>
          <a:xfrm>
            <a:off x="6542782" y="1935956"/>
            <a:ext cx="578406" cy="22860"/>
          </a:xfrm>
          <a:prstGeom prst="roundRect">
            <a:avLst>
              <a:gd name="adj" fmla="val 354232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7098328" y="1730573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539" y="1766649"/>
            <a:ext cx="289203" cy="3614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41326" y="179677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Collection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93790" y="2213610"/>
            <a:ext cx="555748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Kaggle Dataset acquisition - 4,269 loan application records with comprehensive feature set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09212" y="3092648"/>
            <a:ext cx="578406" cy="22860"/>
          </a:xfrm>
          <a:prstGeom prst="roundRect">
            <a:avLst>
              <a:gd name="adj" fmla="val 354232"/>
            </a:avLst>
          </a:prstGeom>
          <a:solidFill>
            <a:srgbClr val="C5D2CF"/>
          </a:solidFill>
          <a:ln/>
        </p:spPr>
      </p:sp>
      <p:sp>
        <p:nvSpPr>
          <p:cNvPr id="10" name="Shape 7"/>
          <p:cNvSpPr/>
          <p:nvPr/>
        </p:nvSpPr>
        <p:spPr>
          <a:xfrm>
            <a:off x="7098328" y="2887266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539" y="2923342"/>
            <a:ext cx="289203" cy="3614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79130" y="2953464"/>
            <a:ext cx="27314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Exploratory Data Analysis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8279130" y="3370302"/>
            <a:ext cx="555748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Statistical profiling, distribution analysis, and pattern identification across all variables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542782" y="4089678"/>
            <a:ext cx="578406" cy="22860"/>
          </a:xfrm>
          <a:prstGeom prst="roundRect">
            <a:avLst>
              <a:gd name="adj" fmla="val 354232"/>
            </a:avLst>
          </a:prstGeom>
          <a:solidFill>
            <a:srgbClr val="C5D2CF"/>
          </a:solidFill>
          <a:ln/>
        </p:spPr>
      </p:sp>
      <p:sp>
        <p:nvSpPr>
          <p:cNvPr id="15" name="Shape 11"/>
          <p:cNvSpPr/>
          <p:nvPr/>
        </p:nvSpPr>
        <p:spPr>
          <a:xfrm>
            <a:off x="7098328" y="3884295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539" y="3920371"/>
            <a:ext cx="289203" cy="3614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41326" y="395049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Preprocessing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793790" y="436733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Missing value treatment strategies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93790" y="4743093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Outlier detection and handling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93790" y="5118854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encoding &amp; scaling normalization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509212" y="5086707"/>
            <a:ext cx="578406" cy="22860"/>
          </a:xfrm>
          <a:prstGeom prst="roundRect">
            <a:avLst>
              <a:gd name="adj" fmla="val 354232"/>
            </a:avLst>
          </a:prstGeom>
          <a:solidFill>
            <a:srgbClr val="C5D2CF"/>
          </a:solidFill>
          <a:ln/>
        </p:spPr>
      </p:sp>
      <p:sp>
        <p:nvSpPr>
          <p:cNvPr id="22" name="Shape 17"/>
          <p:cNvSpPr/>
          <p:nvPr/>
        </p:nvSpPr>
        <p:spPr>
          <a:xfrm>
            <a:off x="7098328" y="4881324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539" y="4917400"/>
            <a:ext cx="289203" cy="36147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79130" y="494752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25" name="Text 19"/>
          <p:cNvSpPr/>
          <p:nvPr/>
        </p:nvSpPr>
        <p:spPr>
          <a:xfrm>
            <a:off x="8279130" y="5364361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Income-to-loan affordability ratios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279130" y="574012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Asset portfolio diversification metrics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279130" y="6115883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Derived creditworthiness indicators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6542782" y="6083737"/>
            <a:ext cx="578406" cy="22860"/>
          </a:xfrm>
          <a:prstGeom prst="roundRect">
            <a:avLst>
              <a:gd name="adj" fmla="val 354232"/>
            </a:avLst>
          </a:prstGeom>
          <a:solidFill>
            <a:srgbClr val="C5D2CF"/>
          </a:solidFill>
          <a:ln/>
        </p:spPr>
      </p:sp>
      <p:sp>
        <p:nvSpPr>
          <p:cNvPr id="29" name="Shape 23"/>
          <p:cNvSpPr/>
          <p:nvPr/>
        </p:nvSpPr>
        <p:spPr>
          <a:xfrm>
            <a:off x="7098328" y="5878354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0539" y="5914430"/>
            <a:ext cx="289203" cy="36147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410307" y="5944553"/>
            <a:ext cx="294096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Training &amp; Evaluation</a:t>
            </a:r>
            <a:endParaRPr lang="en-US" sz="1850" dirty="0"/>
          </a:p>
        </p:txBody>
      </p:sp>
      <p:sp>
        <p:nvSpPr>
          <p:cNvPr id="32" name="Text 25"/>
          <p:cNvSpPr/>
          <p:nvPr/>
        </p:nvSpPr>
        <p:spPr>
          <a:xfrm>
            <a:off x="793790" y="6361390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Multiple algorithm implementation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93790" y="673715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Cross-validation methodology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793790" y="7112913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Comprehensive performance comparison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1910"/>
            <a:ext cx="610612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Initial Data Exploration Results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12513"/>
            <a:ext cx="3090505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4,269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1204913" y="283809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Total Applications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30404"/>
            <a:ext cx="3090505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Comprehensive dataset with 13 features (8 numerical, 3 categorical)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1109" y="2012513"/>
            <a:ext cx="3090624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₹96M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4522232" y="283809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Maximum Income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111109" y="3230404"/>
            <a:ext cx="309062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 variance range from ₹4.1M minimum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28548" y="2012513"/>
            <a:ext cx="3090624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778</a:t>
            </a:r>
            <a:endParaRPr lang="en-US" sz="4700" dirty="0"/>
          </a:p>
        </p:txBody>
      </p:sp>
      <p:sp>
        <p:nvSpPr>
          <p:cNvPr id="10" name="Text 8"/>
          <p:cNvSpPr/>
          <p:nvPr/>
        </p:nvSpPr>
        <p:spPr>
          <a:xfrm>
            <a:off x="7839670" y="283809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Highest CIBIL Score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28548" y="3230404"/>
            <a:ext cx="309062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Credit scores ranging from 417-778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45986" y="2012513"/>
            <a:ext cx="3090624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₹30.7M</a:t>
            </a:r>
            <a:endParaRPr lang="en-US" sz="4700" dirty="0"/>
          </a:p>
        </p:txBody>
      </p:sp>
      <p:sp>
        <p:nvSpPr>
          <p:cNvPr id="13" name="Text 11"/>
          <p:cNvSpPr/>
          <p:nvPr/>
        </p:nvSpPr>
        <p:spPr>
          <a:xfrm>
            <a:off x="11096625" y="2838093"/>
            <a:ext cx="238922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Maximum Loan Amount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745986" y="3230404"/>
            <a:ext cx="309062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Requests ranging from ₹12.2M minimum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3790" y="4083129"/>
            <a:ext cx="287726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Patterns Discovered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93790" y="4899541"/>
            <a:ext cx="6300073" cy="2133957"/>
          </a:xfrm>
          <a:prstGeom prst="roundRect">
            <a:avLst>
              <a:gd name="adj" fmla="val 3571"/>
            </a:avLst>
          </a:prstGeom>
          <a:solidFill>
            <a:srgbClr val="B6FCB8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41" y="5148858"/>
            <a:ext cx="283488" cy="22681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40180" y="512635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Positive Correlations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440180" y="5591294"/>
            <a:ext cx="54722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Higher CIBIL scores</a:t>
            </a: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strongly correlate with loan approval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440180" y="5945029"/>
            <a:ext cx="54722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Income-to-loan ratio</a:t>
            </a: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appears critical for decision-making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440180" y="6298763"/>
            <a:ext cx="5472232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Asset diversification</a:t>
            </a: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may positively influence approval rates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544157" y="4899541"/>
            <a:ext cx="6300073" cy="1843683"/>
          </a:xfrm>
          <a:prstGeom prst="roundRect">
            <a:avLst>
              <a:gd name="adj" fmla="val 4134"/>
            </a:avLst>
          </a:prstGeom>
          <a:solidFill>
            <a:srgbClr val="B6D6FC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5608" y="5148858"/>
            <a:ext cx="283488" cy="22681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0548" y="512635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Characteristics</a:t>
            </a:r>
            <a:endParaRPr lang="en-US" sz="1750" dirty="0"/>
          </a:p>
        </p:txBody>
      </p:sp>
      <p:sp>
        <p:nvSpPr>
          <p:cNvPr id="25" name="Text 21"/>
          <p:cNvSpPr/>
          <p:nvPr/>
        </p:nvSpPr>
        <p:spPr>
          <a:xfrm>
            <a:off x="8190548" y="5591294"/>
            <a:ext cx="54722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Significant variance in financial variables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190548" y="5945029"/>
            <a:ext cx="54722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Multiple asset categories with wide value ranges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190548" y="6298763"/>
            <a:ext cx="54722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 distribution analysis pending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19720"/>
            <a:ext cx="4615696" cy="49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System Compatibility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023342" y="1662708"/>
            <a:ext cx="442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Can data be directly fed to mining system?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990856" y="2194084"/>
            <a:ext cx="6884670" cy="679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44444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</a:t>
            </a:r>
            <a:r>
              <a:rPr lang="en-US" sz="4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- Preprocessing Required</a:t>
            </a:r>
            <a:endParaRPr lang="en-US" sz="4250" dirty="0"/>
          </a:p>
        </p:txBody>
      </p:sp>
      <p:sp>
        <p:nvSpPr>
          <p:cNvPr id="5" name="Shape 3"/>
          <p:cNvSpPr/>
          <p:nvPr/>
        </p:nvSpPr>
        <p:spPr>
          <a:xfrm>
            <a:off x="787241" y="1426607"/>
            <a:ext cx="22860" cy="1682591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787241" y="3443645"/>
            <a:ext cx="2044898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Critical Issues Identified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7241" y="3950315"/>
            <a:ext cx="78700" cy="78700"/>
          </a:xfrm>
          <a:prstGeom prst="roundRect">
            <a:avLst>
              <a:gd name="adj" fmla="val 580940"/>
            </a:avLst>
          </a:prstGeom>
          <a:solidFill>
            <a:srgbClr val="437066"/>
          </a:solidFill>
          <a:ln/>
        </p:spPr>
      </p:sp>
      <p:sp>
        <p:nvSpPr>
          <p:cNvPr id="8" name="Text 6"/>
          <p:cNvSpPr/>
          <p:nvPr/>
        </p:nvSpPr>
        <p:spPr>
          <a:xfrm>
            <a:off x="1023342" y="3866674"/>
            <a:ext cx="1968341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Scale Incompatibility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3342" y="4270058"/>
            <a:ext cx="6099810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Values range from millions to hundreds - requires normalization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7241" y="4920555"/>
            <a:ext cx="78700" cy="78700"/>
          </a:xfrm>
          <a:prstGeom prst="roundRect">
            <a:avLst>
              <a:gd name="adj" fmla="val 580940"/>
            </a:avLst>
          </a:prstGeom>
          <a:solidFill>
            <a:srgbClr val="437066"/>
          </a:solidFill>
          <a:ln/>
        </p:spPr>
      </p:sp>
      <p:sp>
        <p:nvSpPr>
          <p:cNvPr id="11" name="Text 9"/>
          <p:cNvSpPr/>
          <p:nvPr/>
        </p:nvSpPr>
        <p:spPr>
          <a:xfrm>
            <a:off x="1023342" y="4836914"/>
            <a:ext cx="1968341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Categorical Variables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3342" y="5240298"/>
            <a:ext cx="6099810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Text-based features need numerical encoding for ML algorithms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7241" y="5890796"/>
            <a:ext cx="78700" cy="78700"/>
          </a:xfrm>
          <a:prstGeom prst="roundRect">
            <a:avLst>
              <a:gd name="adj" fmla="val 580940"/>
            </a:avLst>
          </a:prstGeom>
          <a:solidFill>
            <a:srgbClr val="437066"/>
          </a:solidFill>
          <a:ln/>
        </p:spPr>
      </p:sp>
      <p:sp>
        <p:nvSpPr>
          <p:cNvPr id="14" name="Text 12"/>
          <p:cNvSpPr/>
          <p:nvPr/>
        </p:nvSpPr>
        <p:spPr>
          <a:xfrm>
            <a:off x="1023342" y="5807154"/>
            <a:ext cx="1968341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3342" y="6210538"/>
            <a:ext cx="6099810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Incomplete records require imputation strategies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7241" y="6861036"/>
            <a:ext cx="78700" cy="78700"/>
          </a:xfrm>
          <a:prstGeom prst="roundRect">
            <a:avLst>
              <a:gd name="adj" fmla="val 580940"/>
            </a:avLst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1023342" y="6777395"/>
            <a:ext cx="1968341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Outlier Management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3342" y="7180778"/>
            <a:ext cx="6099810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Extreme values need careful handling to prevent model bias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14868" y="3443645"/>
            <a:ext cx="1968341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Current Dataset Status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514868" y="3866674"/>
            <a:ext cx="6335911" cy="1599605"/>
          </a:xfrm>
          <a:prstGeom prst="roundRect">
            <a:avLst>
              <a:gd name="adj" fmla="val 4135"/>
            </a:avLst>
          </a:prstGeom>
          <a:solidFill>
            <a:srgbClr val="B6FCB8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268" y="4081582"/>
            <a:ext cx="245983" cy="19681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075652" y="4063365"/>
            <a:ext cx="1968341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75652" y="4466749"/>
            <a:ext cx="5617726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✓ Well-structured dataset format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75652" y="4773692"/>
            <a:ext cx="5617726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✓ Business-relevant feature selection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75652" y="5080635"/>
            <a:ext cx="5617726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✓ Sufficient sample size for modeling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14868" y="5643324"/>
            <a:ext cx="6335911" cy="1599605"/>
          </a:xfrm>
          <a:prstGeom prst="roundRect">
            <a:avLst>
              <a:gd name="adj" fmla="val 4135"/>
            </a:avLst>
          </a:prstGeom>
          <a:solidFill>
            <a:srgbClr val="FCF2B5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268" y="5858232"/>
            <a:ext cx="245983" cy="19681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075652" y="5840016"/>
            <a:ext cx="1968341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8075652" y="6243399"/>
            <a:ext cx="5617726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✗ Raw format incompatible with ML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075652" y="6550342"/>
            <a:ext cx="5617726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✗ Requires comprehensive transformation pipeline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075652" y="6857286"/>
            <a:ext cx="5617726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✗ Quality assurance protocols needed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6158"/>
            <a:ext cx="63126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Preprocessing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5856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213610"/>
            <a:ext cx="4196358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3879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Quality Assessment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2878336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Missing value pattern analysis across all features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68343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Outlier detection using IQR methodology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48853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consistency and integrity checks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29363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correlation and multicollinearity assessment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216962" y="185856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6962" y="2213610"/>
            <a:ext cx="4196358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2" name="Text 10"/>
          <p:cNvSpPr/>
          <p:nvPr/>
        </p:nvSpPr>
        <p:spPr>
          <a:xfrm>
            <a:off x="5216962" y="23879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Transformation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16962" y="2878336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Missing Values: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Median imputation (numerical), mode imputation (categorical)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216962" y="404633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Categorical Encoding: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One-hot encoding for nominal, binary encoding for ordinal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216962" y="521434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Scaling: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StandardScaler for uniform distribution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216962" y="601944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Outlier Treatment: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Winsorization at 95th percentile threshold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640133" y="185856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640133" y="2213610"/>
            <a:ext cx="4196358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40133" y="23879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40133" y="2878336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Income-to-loan ratio: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Affordability assessment metric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640133" y="368343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Total asset value: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Comprehensive wealth indicator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640133" y="448853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Asset diversification score: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Portfolio risk assessment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640133" y="529363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selection: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Correlation analysis and importance ranking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71704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systematic approach ensures data quality while preserving business interpretability and predictive power.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1045"/>
            <a:ext cx="526553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Post-Preprocessing Data Quality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037636" y="1855827"/>
            <a:ext cx="634603" cy="128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100%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984" y="1533406"/>
            <a:ext cx="774025" cy="7740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3513" y="249162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Scale Consistency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93790" y="2810351"/>
            <a:ext cx="312253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features normalized to compatible ranges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344358" y="1855827"/>
            <a:ext cx="634603" cy="128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0%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707" y="1533406"/>
            <a:ext cx="774025" cy="774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40235" y="249162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100513" y="2810351"/>
            <a:ext cx="312253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 dataset with no gaps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651081" y="1855827"/>
            <a:ext cx="634603" cy="128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95%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1430" y="1533406"/>
            <a:ext cx="774025" cy="774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958" y="249162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Outlier Management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407235" y="2810351"/>
            <a:ext cx="312253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Extreme values handled without data loss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8272" y="1533406"/>
            <a:ext cx="774025" cy="774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35057" y="2579965"/>
            <a:ext cx="2901553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Ready for Predictive Modeling?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0935057" y="3220998"/>
            <a:ext cx="2901553" cy="1271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43706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YES</a:t>
            </a:r>
            <a:r>
              <a:rPr lang="en-US" sz="4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- High Confidence</a:t>
            </a:r>
            <a:endParaRPr lang="en-US" sz="4000" dirty="0"/>
          </a:p>
        </p:txBody>
      </p:sp>
      <p:sp>
        <p:nvSpPr>
          <p:cNvPr id="18" name="Shape 12"/>
          <p:cNvSpPr/>
          <p:nvPr/>
        </p:nvSpPr>
        <p:spPr>
          <a:xfrm>
            <a:off x="10713958" y="2579965"/>
            <a:ext cx="15240" cy="191262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9" name="Shape 13"/>
          <p:cNvSpPr/>
          <p:nvPr/>
        </p:nvSpPr>
        <p:spPr>
          <a:xfrm>
            <a:off x="793790" y="4746784"/>
            <a:ext cx="4249341" cy="1336000"/>
          </a:xfrm>
          <a:prstGeom prst="roundRect">
            <a:avLst>
              <a:gd name="adj" fmla="val 46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48809" y="4901803"/>
            <a:ext cx="195048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Algorithm Compatibility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948809" y="5220533"/>
            <a:ext cx="3939302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Dataset optimized for all planned machine learning algorithms including tree-based models, neural networks, and ensemble methods.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190530" y="4746784"/>
            <a:ext cx="4249341" cy="1336000"/>
          </a:xfrm>
          <a:prstGeom prst="roundRect">
            <a:avLst>
              <a:gd name="adj" fmla="val 46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345549" y="4901803"/>
            <a:ext cx="196715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Business Interpretability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345549" y="5220533"/>
            <a:ext cx="3939302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Maintains clear relationships between features and business logic for regulatory compliance and stakeholder understanding.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587270" y="4746784"/>
            <a:ext cx="4249341" cy="1336000"/>
          </a:xfrm>
          <a:prstGeom prst="roundRect">
            <a:avLst>
              <a:gd name="adj" fmla="val 46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742289" y="490180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Validation Framework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742289" y="5220533"/>
            <a:ext cx="3939302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Proper train/validation/test splits established with quality metrics and performance benchmarks ready for implementation.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93790" y="6248638"/>
            <a:ext cx="13042821" cy="1239798"/>
          </a:xfrm>
          <a:prstGeom prst="roundRect">
            <a:avLst>
              <a:gd name="adj" fmla="val 4995"/>
            </a:avLst>
          </a:prstGeom>
          <a:solidFill>
            <a:srgbClr val="B6FCB8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189" y="6446877"/>
            <a:ext cx="230267" cy="18419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18855" y="643282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Expected Outcome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1318855" y="6810613"/>
            <a:ext cx="1237035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Robust model development with reliable performance evaluation and actionable business insights that will drive automated loan approval decisions with confidence and regulatory compliance.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1626C-7D67-4E4D-851F-56B425FB5D24}"/>
              </a:ext>
            </a:extLst>
          </p:cNvPr>
          <p:cNvSpPr txBox="1"/>
          <p:nvPr/>
        </p:nvSpPr>
        <p:spPr>
          <a:xfrm>
            <a:off x="0" y="2568223"/>
            <a:ext cx="14630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/>
              <a:t>Thank You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Project Pitch Link</a:t>
            </a:r>
          </a:p>
          <a:p>
            <a:pPr algn="ctr"/>
            <a:r>
              <a:rPr lang="en-US" sz="2400" dirty="0">
                <a:hlinkClick r:id="rId2"/>
              </a:rPr>
              <a:t>https://drive.google.com/file/d/1B_hNu4lWZnjWAgSdBPgi0RmGnQraBE_t/view?usp=drive_link</a:t>
            </a:r>
            <a:r>
              <a:rPr lang="en-US" sz="2400" dirty="0"/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2134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945</Words>
  <Application>Microsoft Office PowerPoint</Application>
  <PresentationFormat>Custom</PresentationFormat>
  <Paragraphs>182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Kanit Light</vt:lpstr>
      <vt:lpstr>Calibri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Suraj Rao</cp:lastModifiedBy>
  <cp:revision>2</cp:revision>
  <dcterms:created xsi:type="dcterms:W3CDTF">2025-09-08T20:08:49Z</dcterms:created>
  <dcterms:modified xsi:type="dcterms:W3CDTF">2025-09-09T23:32:16Z</dcterms:modified>
</cp:coreProperties>
</file>