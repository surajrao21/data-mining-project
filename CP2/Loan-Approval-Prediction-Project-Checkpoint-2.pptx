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1" r:id="rId9"/>
    <p:sldId id="269" r:id="rId10"/>
    <p:sldId id="262" r:id="rId11"/>
    <p:sldId id="270" r:id="rId12"/>
    <p:sldId id="271" r:id="rId13"/>
    <p:sldId id="263" r:id="rId14"/>
    <p:sldId id="272" r:id="rId15"/>
    <p:sldId id="264" r:id="rId16"/>
    <p:sldId id="273" r:id="rId17"/>
    <p:sldId id="274" r:id="rId18"/>
    <p:sldId id="265" r:id="rId19"/>
    <p:sldId id="266" r:id="rId20"/>
  </p:sldIdLst>
  <p:sldSz cx="14630400" cy="8229600"/>
  <p:notesSz cx="8229600" cy="14630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DM Sans Semi Bold" panose="020B0604020202020204" charset="0"/>
      <p:regular r:id="rId26"/>
    </p:embeddedFont>
    <p:embeddedFont>
      <p:font typeface="Inter Medium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85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n0VxR-CIltRnNrpPSafxPl_7Kl55jU8T/view?usp=sharing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6826"/>
            <a:ext cx="13014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Loan Approval Prediction : Project Checkpoint 2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6331"/>
            <a:ext cx="50399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Team: Predictive Minds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3346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Members:</a:t>
            </a: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Suraj R. Rao | Om G. Patel | Darren A. Ferrao | Mohammad A. K. Dalwai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42128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Objective:</a:t>
            </a: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Expand and refine the loan-approval prediction pipeline through multiple models, feature engineering, class-balancing, and model tuning to achieve higher predictive accuracy and recall.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1789"/>
            <a:ext cx="62770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Checkpoint 1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1142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58 645 samples × 13 features.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094196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81142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Logistic Regression | Decision Tree | Random Forest.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2795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854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Best Model (CP1)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34519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 → Accuracy 0.95 | F1 0.78.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2795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854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Next Goal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345192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recall for </a:t>
            </a: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Default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class and add richer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4670"/>
            <a:ext cx="82126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Class Distribution &amp; Balancing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004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Original Distribution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05253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Original ratio: Approved 50 295 | Default 8 350 (≈ 6 : 1).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After SMOTE: 80 472 samples (balanced).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9982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After SMOTETomek: 80 134 samples (balanced &amp; clean).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87107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3CB52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Impact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523184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Balancing substantially improved minority-class recall and F1.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0FDCA-C573-4F4E-8148-FA5E24F38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96005"/>
            <a:ext cx="14630400" cy="3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282"/>
            <a:ext cx="10783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Engineering &amp; Data Preparation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6689"/>
            <a:ext cx="4196358" cy="3318510"/>
          </a:xfrm>
          <a:prstGeom prst="roundRect">
            <a:avLst>
              <a:gd name="adj" fmla="val 440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6689"/>
            <a:ext cx="121920" cy="331851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3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Engineered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8440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Added 12 engineered features → 25 total variables.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64629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Examples: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income_to_loan_ratio, debt_to_income_ratio, age_employment_ratio, log &amp; polynomial terms.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36689"/>
            <a:ext cx="4196358" cy="3318510"/>
          </a:xfrm>
          <a:prstGeom prst="roundRect">
            <a:avLst>
              <a:gd name="adj" fmla="val 440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036689"/>
            <a:ext cx="121920" cy="331851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293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78440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Label encoding + standard scaling for numerical features.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36689"/>
            <a:ext cx="4196358" cy="3318510"/>
          </a:xfrm>
          <a:prstGeom prst="roundRect">
            <a:avLst>
              <a:gd name="adj" fmla="val 440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036689"/>
            <a:ext cx="121920" cy="331851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293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Train/Test Split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78440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46 916 train | 11 729 test (80/20).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91023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Models Evaluated </a:t>
            </a:r>
            <a:r>
              <a:rPr lang="en-US" sz="44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(10 Algorithms)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Algorithms Tested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Logistic Regression | Decision Tree | Random Forest | XGBoost | LightGBM | Gradient Boost | AdaBoost | SVM | KNN | Naive Bayes.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7428548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Datasets Used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28548" y="35053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Original, SMOTE, SMOTETomek.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Accuracy | Precision | Recall | F1 | ROC-AUC.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Best Performers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Ensemble models (XGBoost, LightGBM, Gradient Boost) performed best.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1F7DD-5795-4754-92FA-5AC3D401C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9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713"/>
            <a:ext cx="109964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Dataset-Level Performance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312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Compared Original, SMOTE, and SMOTETomek datasets for top models.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61780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8958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Balanced Datasets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8626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Enhanced recall without sacrificing accuracy.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61780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48958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Original Dataset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538626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XGBoost and LightGBM achieved highest overall metrics.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42752-342B-4C59-A792-66737E5A7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3644"/>
            <a:ext cx="14630400" cy="482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63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2776"/>
            <a:ext cx="84836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Model Results &amp;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1716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3 Models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620095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8469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403395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7541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XGBoost (Orig)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20604" y="531554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&gt; 95 % accuracy and ≈ 0.81 F1 score.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620095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8469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403395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7541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LightGBM (Orig)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5443776" y="531554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&gt; 95 % accuracy and ≈ 0.81 F1 score.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620095"/>
            <a:ext cx="4196358" cy="2648069"/>
          </a:xfrm>
          <a:prstGeom prst="roundRect">
            <a:avLst>
              <a:gd name="adj" fmla="val 128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8469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403395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754166"/>
            <a:ext cx="349686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Gradient Boost (Orig)</a:t>
            </a:r>
            <a:endParaRPr lang="en-US" sz="2650" dirty="0"/>
          </a:p>
        </p:txBody>
      </p:sp>
      <p:sp>
        <p:nvSpPr>
          <p:cNvPr id="18" name="Text 13"/>
          <p:cNvSpPr/>
          <p:nvPr/>
        </p:nvSpPr>
        <p:spPr>
          <a:xfrm>
            <a:off x="9866948" y="531554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&gt; 95 % accuracy and ≈ 0.81 F1 score.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652331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recall (~ 0.72–0.73) for the </a:t>
            </a:r>
            <a:r>
              <a:rPr lang="en-US" sz="2200" b="1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Default</a:t>
            </a: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class.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D5424-B2D5-4E33-AA48-78FB8AE87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1212"/>
            <a:ext cx="14630400" cy="404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8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A0263-5F30-4AF4-BC63-F719AE272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992" y="502913"/>
            <a:ext cx="9040416" cy="721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7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11251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Tuned Best Model </a:t>
            </a:r>
            <a:r>
              <a:rPr lang="en-US" sz="4450" dirty="0">
                <a:solidFill>
                  <a:srgbClr val="93CB52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(XGBoost)</a:t>
            </a: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&amp; Validation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Tuning Process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55648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Tuned via GridSearchCV → parameters: colsample_bytree 0.8, learning_rate 0.1, max_depth 7, n_estimators 300.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66015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5-Fold CV F1 = 0.810 (± 0.025).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19674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Test Metrics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6919674" y="3973235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Accuracy 0.9517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19674" y="4415433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Precision 0.913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4857631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Recall 0.731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919674" y="5299829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0.812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919674" y="5742027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ROC-AUC 0.953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7C3AF-94E9-4ACE-B1A1-2847526F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578" y="969087"/>
            <a:ext cx="10553243" cy="62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38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3837"/>
            <a:ext cx="110180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Importance &amp; Progress from CP1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86244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Predictors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03395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loan_grade, high_interest_loan, home_ownership, loan_percent_income, debt_to_income_ratio, income_to_loan_ratio.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86244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543538"/>
            <a:ext cx="2934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AD18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Enhancement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03395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engineering and tuning enhanced recall and stability.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86244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AD1C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Improvement vs CP1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03395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+ 4.1 % | Recall + 4.4 % | ROC-AUC + 2.5 %.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22EE4-4ECA-4F9F-9328-F2CDD8FF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09" y="502912"/>
            <a:ext cx="10881382" cy="72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8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AF461-E829-4FCB-AE54-549C788B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21" y="1096093"/>
            <a:ext cx="12177157" cy="60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80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7241"/>
            <a:ext cx="99868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Next Steps </a:t>
            </a:r>
            <a:r>
              <a:rPr lang="en-US" sz="44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(Short-Term Final Scope)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4964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38921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8921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SHAP Visualizations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445353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Finalize SHAP visualizations for model explainability.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84964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20963" y="38921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38921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Selection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445353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 feature selection to streamline the final model.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384964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63065" y="38921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38921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Report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44535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 final report with business impact discussion and deployment outline.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1D10D-44EF-4F6A-857F-59DDCD9241C5}"/>
              </a:ext>
            </a:extLst>
          </p:cNvPr>
          <p:cNvSpPr txBox="1"/>
          <p:nvPr/>
        </p:nvSpPr>
        <p:spPr>
          <a:xfrm>
            <a:off x="-115745" y="2545140"/>
            <a:ext cx="14630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8BF22-6F9E-4603-A80D-3DC3D1370178}"/>
              </a:ext>
            </a:extLst>
          </p:cNvPr>
          <p:cNvSpPr txBox="1"/>
          <p:nvPr/>
        </p:nvSpPr>
        <p:spPr>
          <a:xfrm>
            <a:off x="-1" y="6227840"/>
            <a:ext cx="14630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https://drive.google.com/file/d/1n0VxR-CIltRnNrpPSafxPl_7Kl55jU8T/view?usp=sharing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1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604</Words>
  <Application>Microsoft Office PowerPoint</Application>
  <PresentationFormat>Custom</PresentationFormat>
  <Paragraphs>91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Inter Medium</vt:lpstr>
      <vt:lpstr>Arial</vt:lpstr>
      <vt:lpstr>DM Sans Semi 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Suraj Rao</cp:lastModifiedBy>
  <cp:revision>5</cp:revision>
  <dcterms:created xsi:type="dcterms:W3CDTF">2025-11-02T22:08:39Z</dcterms:created>
  <dcterms:modified xsi:type="dcterms:W3CDTF">2025-11-03T01:27:54Z</dcterms:modified>
</cp:coreProperties>
</file>