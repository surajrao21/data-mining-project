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7" r:id="rId5"/>
    <p:sldId id="259" r:id="rId6"/>
    <p:sldId id="268" r:id="rId7"/>
    <p:sldId id="260" r:id="rId8"/>
    <p:sldId id="269" r:id="rId9"/>
    <p:sldId id="261" r:id="rId10"/>
    <p:sldId id="270" r:id="rId11"/>
    <p:sldId id="271" r:id="rId12"/>
    <p:sldId id="262" r:id="rId13"/>
    <p:sldId id="272" r:id="rId14"/>
    <p:sldId id="263" r:id="rId15"/>
    <p:sldId id="273" r:id="rId16"/>
    <p:sldId id="274" r:id="rId17"/>
    <p:sldId id="264" r:id="rId18"/>
    <p:sldId id="275" r:id="rId19"/>
    <p:sldId id="265" r:id="rId20"/>
    <p:sldId id="266" r:id="rId21"/>
  </p:sldIdLst>
  <p:sldSz cx="14630400" cy="8229600"/>
  <p:notesSz cx="8229600" cy="146304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8413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82986"/>
            <a:ext cx="109544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76B9F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Loan Approval Prediction – Checkpoint 1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031927"/>
            <a:ext cx="513290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76B9F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Group: </a:t>
            </a:r>
            <a:r>
              <a:rPr lang="en-US" sz="3550" b="1" dirty="0">
                <a:solidFill>
                  <a:srgbClr val="437066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Predictive Minds</a:t>
            </a:r>
            <a:endParaRPr lang="en-US" sz="35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93906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Team Members: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5571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Suraj Ravindra Rao (ASU ID: 1233990435)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99931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Om Gaurav Patel (ASU ID: 1233379110)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44151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Darren Alaistair Ferrao (ASU ID: 1237189124)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588371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Mohammad Asgar Khan Dalwai (ASU ID: 1237671684)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55326"/>
            <a:ext cx="61086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76B9F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Background &amp; Problem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8177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Loan approval prediction is essential for financial institutions.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43578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Problem: Binary classification → Approved (0) vs Default (1).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13885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37066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Importance:</a:t>
            </a:r>
            <a:endParaRPr lang="en-US" sz="2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93790" y="4904303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3F4652"/>
          </a:solidFill>
          <a:ln/>
        </p:spPr>
      </p:sp>
      <p:sp>
        <p:nvSpPr>
          <p:cNvPr id="7" name="Text 5"/>
          <p:cNvSpPr/>
          <p:nvPr/>
        </p:nvSpPr>
        <p:spPr>
          <a:xfrm>
            <a:off x="1020604" y="51311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Risk Reduction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20604" y="5621536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Reduces loan defaults and financial risk.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216962" y="4904303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3F4652"/>
          </a:solidFill>
          <a:ln/>
        </p:spPr>
      </p:sp>
      <p:sp>
        <p:nvSpPr>
          <p:cNvPr id="10" name="Text 8"/>
          <p:cNvSpPr/>
          <p:nvPr/>
        </p:nvSpPr>
        <p:spPr>
          <a:xfrm>
            <a:off x="5443776" y="51311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Process Automation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43776" y="5621536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Automates decisions for faster processing.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640133" y="4904303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3F4652"/>
          </a:solidFill>
          <a:ln/>
        </p:spPr>
      </p:sp>
      <p:sp>
        <p:nvSpPr>
          <p:cNvPr id="13" name="Text 11"/>
          <p:cNvSpPr/>
          <p:nvPr/>
        </p:nvSpPr>
        <p:spPr>
          <a:xfrm>
            <a:off x="9866948" y="51311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Fair &amp; Scalable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866948" y="5621536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Ensures fairness and scalability.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9907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76B9F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Dataset Overview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14801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76B9F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Dataset Evolution</a:t>
            </a:r>
            <a:endParaRPr lang="en-US" sz="2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91346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Pitch dataset: 4,269 samples (initial plan).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5315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Updated dataset (Checkpoint 1): Kaggle Playground dataset, 58,645 samples × 13 features.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1495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Features: demographic, employment, loan details, credit history.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7676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Train/Test split: 80/20.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D81902-BF31-4E70-AA84-2939DBCFF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4" y="1423686"/>
            <a:ext cx="14622106" cy="538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153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2280"/>
            <a:ext cx="82449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76B9F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Numerical Feature Exploration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214688"/>
            <a:ext cx="4196358" cy="1367909"/>
          </a:xfrm>
          <a:prstGeom prst="roundRect">
            <a:avLst>
              <a:gd name="adj" fmla="val 2487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471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Age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084" y="3962400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Concentrated in 20s–30s.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216962" y="3214688"/>
            <a:ext cx="4196358" cy="1367909"/>
          </a:xfrm>
          <a:prstGeom prst="roundRect">
            <a:avLst>
              <a:gd name="adj" fmla="val 2487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74256" y="3471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Income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74256" y="3962400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Skewed with large outliers.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40133" y="3214688"/>
            <a:ext cx="4196358" cy="1367909"/>
          </a:xfrm>
          <a:prstGeom prst="roundRect">
            <a:avLst>
              <a:gd name="adj" fmla="val 2487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97427" y="3471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Loan Amount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97427" y="3962400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Most between 5k–15k.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809411"/>
            <a:ext cx="6407944" cy="1367909"/>
          </a:xfrm>
          <a:prstGeom prst="roundRect">
            <a:avLst>
              <a:gd name="adj" fmla="val 2487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084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Interest Rate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51084" y="5557123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7–15% range dominates.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7944" cy="1367909"/>
          </a:xfrm>
          <a:prstGeom prst="roundRect">
            <a:avLst>
              <a:gd name="adj" fmla="val 2487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5842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Credit History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85842" y="5557123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Majority &lt; 10 years.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7C95EF-6B8A-4991-A2DE-BB5C850F6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162" y="0"/>
            <a:ext cx="12404076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798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39935"/>
            <a:ext cx="84247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76B9F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Categorical Feature Exploration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50234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4" name="Text 2"/>
          <p:cNvSpPr/>
          <p:nvPr/>
        </p:nvSpPr>
        <p:spPr>
          <a:xfrm>
            <a:off x="1530906" y="354484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Home Ownership</a:t>
            </a:r>
            <a:endParaRPr lang="en-US" sz="2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530906" y="4106228"/>
            <a:ext cx="564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Rent and Mortgage are common.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56884" y="350234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7" name="Text 5"/>
          <p:cNvSpPr/>
          <p:nvPr/>
        </p:nvSpPr>
        <p:spPr>
          <a:xfrm>
            <a:off x="8194000" y="354484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Loan Intent</a:t>
            </a:r>
            <a:endParaRPr lang="en-US" sz="2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194000" y="4106228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Education and Medical dominate.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93790" y="492275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0" name="Text 8"/>
          <p:cNvSpPr/>
          <p:nvPr/>
        </p:nvSpPr>
        <p:spPr>
          <a:xfrm>
            <a:off x="1530906" y="496526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Loan Grade</a:t>
            </a:r>
            <a:endParaRPr lang="en-US" sz="2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530906" y="5526643"/>
            <a:ext cx="564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Lower grades (D–G) have </a:t>
            </a:r>
            <a:r>
              <a:rPr lang="en-US" sz="1750" b="1" dirty="0">
                <a:solidFill>
                  <a:srgbClr val="437066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higher default risk</a:t>
            </a: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456884" y="492275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3" name="Text 11"/>
          <p:cNvSpPr/>
          <p:nvPr/>
        </p:nvSpPr>
        <p:spPr>
          <a:xfrm>
            <a:off x="8194000" y="496526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Default History</a:t>
            </a:r>
            <a:endParaRPr lang="en-US" sz="2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94000" y="5526643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Strong predictor of loan status.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0EAC3F-4803-4629-BC26-8037713D1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258" y="0"/>
            <a:ext cx="12347884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985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45043"/>
            <a:ext cx="75883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76B9F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Correlations &amp; Relationships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407450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4541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Strong Correlation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20604" y="503193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Loan Percent Income </a:t>
            </a:r>
            <a:r>
              <a:rPr lang="en-US" sz="1750" b="1" dirty="0">
                <a:solidFill>
                  <a:srgbClr val="000000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↔</a:t>
            </a: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Loan Amount.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3407450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4541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Age Relationship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368171" y="503193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Age </a:t>
            </a:r>
            <a:r>
              <a:rPr lang="en-US" sz="1750" b="1" dirty="0">
                <a:solidFill>
                  <a:srgbClr val="000000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↔</a:t>
            </a: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Credit history length also related.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3407450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4541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Status Influence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715738" y="503193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Loan Status influenced by </a:t>
            </a:r>
            <a:r>
              <a:rPr lang="en-US" sz="1750" b="1" dirty="0">
                <a:solidFill>
                  <a:srgbClr val="437066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loan grade &amp; percent income</a:t>
            </a: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6B3663-98B6-4209-93B8-139BC912B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613" y="0"/>
            <a:ext cx="9769173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196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38B23E-161A-47A0-B039-752DEF9A4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382" y="6681"/>
            <a:ext cx="12419635" cy="822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556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877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76B9F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Data Preprocessing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363516"/>
            <a:ext cx="516778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76B9F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Data Cleaning &amp; Transformation</a:t>
            </a:r>
            <a:endParaRPr lang="en-US" sz="2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015621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Dropped IDs and irrelevant fields.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457819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Label encoded categorical features.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900017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Standardized numerical features.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959096" y="336351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37066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Feature Engineering:</a:t>
            </a:r>
            <a:endParaRPr lang="en-US" sz="2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959096" y="4043958"/>
            <a:ext cx="4885015" cy="807958"/>
          </a:xfrm>
          <a:prstGeom prst="roundRect">
            <a:avLst>
              <a:gd name="adj" fmla="val 4211"/>
            </a:avLst>
          </a:prstGeom>
          <a:solidFill>
            <a:srgbClr val="3F4652"/>
          </a:solidFill>
          <a:ln/>
        </p:spPr>
      </p:sp>
      <p:sp>
        <p:nvSpPr>
          <p:cNvPr id="9" name="Text 7"/>
          <p:cNvSpPr/>
          <p:nvPr/>
        </p:nvSpPr>
        <p:spPr>
          <a:xfrm>
            <a:off x="9185910" y="42707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Income-to-loan ratio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959096" y="5078730"/>
            <a:ext cx="4885015" cy="807958"/>
          </a:xfrm>
          <a:prstGeom prst="roundRect">
            <a:avLst>
              <a:gd name="adj" fmla="val 4211"/>
            </a:avLst>
          </a:prstGeom>
          <a:solidFill>
            <a:srgbClr val="3F4652"/>
          </a:solidFill>
          <a:ln/>
        </p:spPr>
      </p:sp>
      <p:sp>
        <p:nvSpPr>
          <p:cNvPr id="11" name="Text 9"/>
          <p:cNvSpPr/>
          <p:nvPr/>
        </p:nvSpPr>
        <p:spPr>
          <a:xfrm>
            <a:off x="9185910" y="5305544"/>
            <a:ext cx="33669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Age-to-employment ratio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287ABB-9DEB-4617-9669-66B9D90F7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944" y="0"/>
            <a:ext cx="12612511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876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6136"/>
            <a:ext cx="77013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76B9F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Model Training &amp; Evaluation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6285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Models: Logistic Regression, Decision Tree, Random Forest.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2465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Metrics: Accuracy, Precision, Recall, F1, ROC-AUC.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94966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37066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Results:</a:t>
            </a:r>
            <a:endParaRPr lang="en-US" sz="2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93790" y="4715113"/>
            <a:ext cx="4196358" cy="2048351"/>
          </a:xfrm>
          <a:prstGeom prst="roundRect">
            <a:avLst>
              <a:gd name="adj" fmla="val 1661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4270" y="4745593"/>
            <a:ext cx="4135398" cy="680442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8" name="Text 6"/>
          <p:cNvSpPr/>
          <p:nvPr/>
        </p:nvSpPr>
        <p:spPr>
          <a:xfrm>
            <a:off x="1051084" y="56528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Logistic Regression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51084" y="6143268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Accuracy 0.90, Recall 0.44.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216962" y="4715113"/>
            <a:ext cx="4196358" cy="2048351"/>
          </a:xfrm>
          <a:prstGeom prst="roundRect">
            <a:avLst>
              <a:gd name="adj" fmla="val 1661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47442" y="4745593"/>
            <a:ext cx="4135398" cy="680442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12" name="Text 10"/>
          <p:cNvSpPr/>
          <p:nvPr/>
        </p:nvSpPr>
        <p:spPr>
          <a:xfrm>
            <a:off x="5474256" y="56528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Decision Tree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74256" y="6143268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Accuracy 0.95, Recall 0.70.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640133" y="4715113"/>
            <a:ext cx="4196358" cy="2048351"/>
          </a:xfrm>
          <a:prstGeom prst="roundRect">
            <a:avLst>
              <a:gd name="adj" fmla="val 1661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70613" y="4745593"/>
            <a:ext cx="4135398" cy="680442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16" name="Text 14"/>
          <p:cNvSpPr/>
          <p:nvPr/>
        </p:nvSpPr>
        <p:spPr>
          <a:xfrm>
            <a:off x="9897427" y="56528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Random Forest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897427" y="6143268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Accuracy 0.95, ROC-AUC 0.93.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A832FE-4E89-444D-AB0A-B409D3101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950"/>
            <a:ext cx="14630400" cy="774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438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A5A94A-C72A-4065-91C0-ED567EA4C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3402"/>
            <a:ext cx="14629763" cy="3842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263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04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76B9F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Feature Importance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08943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37066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Top predictors:</a:t>
            </a:r>
            <a:endParaRPr lang="en-US" sz="2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85488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 Light" pitchFamily="34" charset="-122"/>
                <a:cs typeface="Times New Roman" panose="02020603050405020304" pitchFamily="18" charset="0"/>
              </a:rPr>
              <a:t>01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209931"/>
            <a:ext cx="4196358" cy="3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43842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Loan Percent Income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216962" y="385488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 Light" pitchFamily="34" charset="-122"/>
                <a:cs typeface="Times New Roman" panose="02020603050405020304" pitchFamily="18" charset="0"/>
              </a:rPr>
              <a:t>02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4209931"/>
            <a:ext cx="4196358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6962" y="43842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Loan Grade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9640133" y="385488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 Light" pitchFamily="34" charset="-122"/>
                <a:cs typeface="Times New Roman" panose="02020603050405020304" pitchFamily="18" charset="0"/>
              </a:rPr>
              <a:t>03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4209931"/>
            <a:ext cx="4196358" cy="30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40133" y="43842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Income-to-loan ratio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793790" y="513540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 Light" pitchFamily="34" charset="-122"/>
                <a:cs typeface="Times New Roman" panose="02020603050405020304" pitchFamily="18" charset="0"/>
              </a:rPr>
              <a:t>04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467707"/>
            <a:ext cx="6407944" cy="30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93790" y="56647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Interest rate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7428548" y="513540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 Light" pitchFamily="34" charset="-122"/>
                <a:cs typeface="Times New Roman" panose="02020603050405020304" pitchFamily="18" charset="0"/>
              </a:rPr>
              <a:t>05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548" y="5467707"/>
            <a:ext cx="6407944" cy="30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428548" y="56647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6E5E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Home ownership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7F1969-FF26-4C99-AEEC-AE868BAC3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316" y="0"/>
            <a:ext cx="10347767" cy="823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71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64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76B9F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Insights &amp; Next Steps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54222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37066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Insights:</a:t>
            </a:r>
            <a:endParaRPr lang="en-US" sz="2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19433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Tree-based models perform best.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6365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Class imbalance hurts recall for defaults.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07873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Key predictors: income ratios, loan grade.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99521" y="354222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37066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Next Steps:</a:t>
            </a:r>
            <a:endParaRPr lang="en-US" sz="2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99521" y="419433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Apply SMOTE/undersampling for balance.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9521" y="46365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Hyperparameter tuning.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99521" y="507873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Try XGBoost/LightGBM.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99521" y="55209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Add interpretability (SHAP, LIME).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D15037-B84A-42CF-9C90-6CF74AB41573}"/>
              </a:ext>
            </a:extLst>
          </p:cNvPr>
          <p:cNvSpPr txBox="1"/>
          <p:nvPr/>
        </p:nvSpPr>
        <p:spPr>
          <a:xfrm>
            <a:off x="3599727" y="2525529"/>
            <a:ext cx="743094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01CE0F-A2A3-44C0-9757-105AD49ED3ED}"/>
              </a:ext>
            </a:extLst>
          </p:cNvPr>
          <p:cNvSpPr txBox="1"/>
          <p:nvPr/>
        </p:nvSpPr>
        <p:spPr>
          <a:xfrm>
            <a:off x="0" y="6204030"/>
            <a:ext cx="1463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       Video Link:</a:t>
            </a:r>
          </a:p>
        </p:txBody>
      </p:sp>
    </p:spTree>
    <p:extLst>
      <p:ext uri="{BB962C8B-B14F-4D97-AF65-F5344CB8AC3E}">
        <p14:creationId xmlns:p14="http://schemas.microsoft.com/office/powerpoint/2010/main" val="1198676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433</Words>
  <Application>Microsoft Office PowerPoint</Application>
  <PresentationFormat>Custom</PresentationFormat>
  <Paragraphs>102</Paragraphs>
  <Slides>20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Suraj Rao</cp:lastModifiedBy>
  <cp:revision>7</cp:revision>
  <dcterms:created xsi:type="dcterms:W3CDTF">2025-10-05T00:09:32Z</dcterms:created>
  <dcterms:modified xsi:type="dcterms:W3CDTF">2025-10-05T06:48:18Z</dcterms:modified>
</cp:coreProperties>
</file>